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5544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MGB-SA HYDROLOGICAL MODELLING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11831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Suspended-sediment transport in the Magdalena basin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contrasting ENSO phases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56616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Niña 2011  vs  El Niño 2015–16   ·   focus: the hydrology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5029200"/>
            <a:ext cx="111831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Militar Nueva Granada — EMINES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Briceño Zuluaga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TWILL · yben409 (model) · Omar (data)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Magdalena, why ENSO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Magdalena carries one of the world's highest specific sediment yields — key for reservoirs, the delta and water quality.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discharge and sediment show strong interannual variability driven by ENSO (La Niña wet, El Niño dry).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ENSO–sediment link is known observationally (Restrepo et al.), but never reproduced with a distributed, process-based model over the whole basin.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builds and validates the hydrology first — the foundation any sediment model must stand 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8745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~257,000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040880" y="24414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km² basin area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32461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~144 Mt/yr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0" y="38130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 load (Calamar)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4617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040880" y="51846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contrasting ENSO years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area &amp; domain</a:t>
            </a:r>
            <a:endParaRPr lang="en-US" sz="3000" dirty="0"/>
          </a:p>
        </p:txBody>
      </p:sp>
      <p:pic>
        <p:nvPicPr>
          <p:cNvPr id="4" name="Image 0" descr="/sessions/epic-sleepy-mendel/mnt/outputs/figs/era5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17320"/>
            <a:ext cx="4023360" cy="46194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54480"/>
            <a:ext cx="6766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Magdalena–Cauca basin, hydrographic codes 21–29.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Andean headwaters (Alto Magdalena, Cauca) to the Caribbean delta; outlet gauge at Calamar.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Climate/terrain grids on the basin box; the ERA5 field (right) shows the wetter Andean flanks.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item: the east edge (−72.9°) clips the upper Sogamoso/Chicamocha — domain to be enlarged before re-download.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Objective, hypothesis &amp; novelty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and explain the difference in sediment fluxes between a La Niña and an El Niño year with a calibrated MGB-SED — starting from a calibrated hydrology.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697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Contrasting ENSO phases produce a detectable, physically interpretable difference the model can reproduce.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73736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2697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MGB-SED application to the Magdalena; process-based, spatial attribution beyond existing statistical correlations.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roadmap</a:t>
            </a:r>
            <a:endParaRPr lang="en-US" sz="3000" dirty="0"/>
          </a:p>
        </p:txBody>
      </p:sp>
      <p:pic>
        <p:nvPicPr>
          <p:cNvPr id="4" name="Image 0" descr="/sessions/epic-sleepy-mendel/mnt/outputs/figs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11183112" cy="32532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120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→ preprocessing → MGB-SA hydrology (this work) → discharge calibration.  Sediment is the next phase.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MGB-SA (hydrology)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Semi-distributed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 split into minibacias (unit-catchments) with upstream→downstream topology.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URH / HRU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4505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minibacia split into soil × land-cover response units.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886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Physically based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459943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balance, saturation-excess runoff, Penman–Monteith ET, routing.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8862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implemented &amp; tested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459943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from-scratch Python MGB-SED (yben409): mass/water balance closes; 64 conservation tests pass.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EQUATIONS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balance &amp; runoff generation</a:t>
            </a:r>
            <a:endParaRPr lang="en-US" sz="3000" dirty="0"/>
          </a:p>
        </p:txBody>
      </p:sp>
      <p:pic>
        <p:nvPicPr>
          <p:cNvPr id="4" name="Image 0" descr="/sessions/epic-sleepy-mendel/mnt/outputs/figs/eq_hydr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766560" cy="3458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73736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soil store of capacity Wm per URH.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Runoff is saturation-excess: it forms where the soil is full, over a variable saturated area set by b.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Kbas (and interflow) are the calibrated parameters.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comes from the soils; P and ET from ERA5.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PARAMETERS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parameter has a source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9651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L, 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area, river length, slope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soil water storage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Soils (SoilGrids → pedotransfer)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LAI, α, 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 (ET, interception)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cover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Rn, es−ea, 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 &amp; atmosphere (ET)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ERA5 + IDEAM (bias-corrected)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Kint, Kbas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runoff / interflow / baseflow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on discharge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Cs, Ci, Cb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 delays (routing)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000" dirty="0"/>
          </a:p>
        </p:txBody>
      </p:sp>
      <p:pic>
        <p:nvPicPr>
          <p:cNvPr id="4" name="Image 0" descr="/sessions/epic-sleepy-mendel/mnt/outputs/figs/preproc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11183112" cy="2439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291840"/>
            <a:ext cx="111831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→ fill (sink &amp; destroy) → D8 flow direction → accumulation → stream network → minibacias.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URH = soil-group × land-class overlay (pixel-by-pixel; Fréchet bounds for the crossing).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SoilGrids raw texture → pedotransfer → K, Wm, hydrologic soil groups.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WorldCover reclassified to 8 hydrological classes; ERA5 aggregated hourly→daily and bias-corrected.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Soils → model parameters (pedotransfer)</a:t>
            </a:r>
            <a:endParaRPr lang="en-US" sz="3000" dirty="0"/>
          </a:p>
        </p:txBody>
      </p:sp>
      <p:pic>
        <p:nvPicPr>
          <p:cNvPr id="4" name="Image 0" descr="/sessions/epic-sleepy-mendel/mnt/outputs/figs/soi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400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182880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texture = clay / sand / silt %, plus SOC and bulk density.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pedotransfer function converts them into model inputs: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USLE K (erodibility), Wm, saturated conductivity, soil groups.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 coarseness is removed by averaging pixels within each minibacia.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forcing — ERA5-Land</a:t>
            </a:r>
            <a:endParaRPr lang="en-US" sz="3000" dirty="0"/>
          </a:p>
        </p:txBody>
      </p:sp>
      <p:pic>
        <p:nvPicPr>
          <p:cNvPr id="4" name="Image 0" descr="/sessions/epic-sleepy-mendel/mnt/outputs/figs/era5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417320"/>
            <a:ext cx="3931920" cy="45144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554480"/>
            <a:ext cx="6858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variables: precipitation (the driver) + temperature, dewpoint, radiation, wind, pressure (→ PET).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hourly → daily to force the soil water balance.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ERA5 under-represents orographic rain in the Andes.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bias-correct precipitation against IDEAM gauges (factor or quantile mapping).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(THIS IS WHAT UNBLOCKS IT)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data — discharge collected</a:t>
            </a:r>
            <a:endParaRPr lang="en-US" sz="3000" dirty="0"/>
          </a:p>
        </p:txBody>
      </p:sp>
      <p:pic>
        <p:nvPicPr>
          <p:cNvPr id="4" name="Image 0" descr="/sessions/epic-sleepy-mendel/mnt/outputs/figs/dischg_per_d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554480"/>
            <a:ext cx="4663440" cy="30312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02920" y="2743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stations (Caudal medio diario), códigos 21–29, catalogue-verified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356616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via the DHIME portal (not the open API) — this is exactly the data the model was waiting for.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stations cover 2011, 94 cover 2015–16.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cross-checked against the official IDEAM station catalogue.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&amp; data quality</a:t>
            </a:r>
            <a:endParaRPr lang="en-US" sz="3000" dirty="0"/>
          </a:p>
        </p:txBody>
      </p:sp>
      <p:pic>
        <p:nvPicPr>
          <p:cNvPr id="4" name="Image 0" descr="/sessions/epic-sleepy-mendel/mnt/outputs/figs/avail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4937760" cy="3456432"/>
          </a:xfrm>
          <a:prstGeom prst="rect">
            <a:avLst/>
          </a:prstGeom>
        </p:spPr>
      </p:pic>
      <p:pic>
        <p:nvPicPr>
          <p:cNvPr id="5" name="Image 1" descr="/sessions/epic-sleepy-mendel/mnt/outputs/figs/dischg_per_y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37360"/>
            <a:ext cx="5852160" cy="23408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52160" y="448056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but patchy records → neighbour-regression gap-filling planned.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network of ~100+ stations through the study years — enough for robust calibration.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validation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Hydrology first — sediment only after discharge is calibrated.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Split-sample: calibrate on one period, validate on another (blocked, no leakage).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years 2011 &amp; 2015–16 kept as a clean validation / scenario run.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190195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190195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√[(r−1)²+(α−1)²+(β−1)²]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29718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313639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0" y="313639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Σ(sim−obs)² / Σ(obs−mean)²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42062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4370832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PBIAS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437083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100·Σ(sim−obs)/Σ obs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THE KEY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data confirm the ENSO contrast</a:t>
            </a:r>
            <a:endParaRPr lang="en-US" sz="3000" dirty="0"/>
          </a:p>
        </p:txBody>
      </p:sp>
      <p:pic>
        <p:nvPicPr>
          <p:cNvPr id="4" name="Image 0" descr="/sessions/epic-sleepy-mendel/mnt/outputs/figs/enso_anoma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315200" cy="33395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73736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920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discharge anomaly (102 stations):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26517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E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 =  +1.70 σ   (wet · La Niña)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 =  −1.02 σ   (dry · El Niño)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 =  −0.64 σ   (dry · El Niño)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86–133 stations.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contrast, seen directly</a:t>
            </a:r>
            <a:endParaRPr lang="en-US" sz="3000" dirty="0"/>
          </a:p>
        </p:txBody>
      </p:sp>
      <p:pic>
        <p:nvPicPr>
          <p:cNvPr id="4" name="Image 0" descr="/sessions/epic-sleepy-mendel/mnt/outputs/figs/hydro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492240" cy="2963849"/>
          </a:xfrm>
          <a:prstGeom prst="rect">
            <a:avLst/>
          </a:prstGeom>
        </p:spPr>
      </p:pic>
      <p:pic>
        <p:nvPicPr>
          <p:cNvPr id="5" name="Image 1" descr="/sessions/epic-sleepy-mendel/mnt/outputs/figs/seaso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4389120" cy="22238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5778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Niña 2011 runs higher all year (left); the basin's bimodal Andean regime (right).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meet: model +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MGB-SED implemented &amp; tested (yben409). Was blocked by 'no sediment/discharge data'.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21031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21040" y="27889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discharge + 77 sediment stations collected via DHIME &amp; verified — exactly what the model needed.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2880360"/>
            <a:ext cx="2743200" cy="8229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926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calibration-ready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built the model that was waiting for data; we collected the data the model was waiting for.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division of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29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engine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yben409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MGB-SED in Python: water balance, routing, MUSLE, calibration, tests.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6360" y="2029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hydrology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Discharge/sediment acquisition, catalogue verification, inventory &amp; EDA, hydrology setup.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4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0" y="20299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+ colleague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32004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departments &amp; sediment (CM variable) by department.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—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 — how we will do all this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11880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88688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65496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2304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9112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95920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72728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49536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26344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03152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acquisition + domain box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94760" y="2084832"/>
            <a:ext cx="131521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151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(minibacias, URH, params)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71568" y="2688336"/>
            <a:ext cx="1753616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186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Hydrological calibration &amp; validation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25184" y="3291840"/>
            <a:ext cx="1753616" cy="384048"/>
          </a:xfrm>
          <a:prstGeom prst="roundRect">
            <a:avLst>
              <a:gd name="adj" fmla="val 11905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8221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 calibration (next phase)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78800" y="3895344"/>
            <a:ext cx="1753616" cy="384048"/>
          </a:xfrm>
          <a:prstGeom prst="roundRect">
            <a:avLst>
              <a:gd name="adj" fmla="val 11905"/>
            </a:avLst>
          </a:prstGeom>
          <a:solidFill>
            <a:srgbClr val="9AA7B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42569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 scenario runs (2011 vs 2015-16)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494012" y="4498848"/>
            <a:ext cx="1315212" cy="384048"/>
          </a:xfrm>
          <a:prstGeom prst="roundRect">
            <a:avLst>
              <a:gd name="adj" fmla="val 11905"/>
            </a:avLst>
          </a:prstGeom>
          <a:solidFill>
            <a:srgbClr val="2E549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029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report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370820" y="5102352"/>
            <a:ext cx="1315212" cy="384048"/>
          </a:xfrm>
          <a:prstGeom prst="roundRect">
            <a:avLst>
              <a:gd name="adj" fmla="val 11905"/>
            </a:avLst>
          </a:prstGeom>
          <a:solidFill>
            <a:srgbClr val="7A5CA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85216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hydrology track (M1–M5) is the focus of this talk; sediment follows once discharge is calibrated.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Sediment data on the mainstem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Tributary rating curves + direct concentration comparison (model outputs C).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ERA5 orographic precip bias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 against IDEAM gauges before forcing.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basin at 30 m infeasible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 whole-basin (cell-limit justified).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977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Eastern domain box clips Sogamoso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box before re-downloading rasters.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 — the sediment phase</a:t>
            </a:r>
            <a:endParaRPr lang="en-US" sz="3000" dirty="0"/>
          </a:p>
        </p:txBody>
      </p:sp>
      <p:pic>
        <p:nvPicPr>
          <p:cNvPr id="4" name="Image 0" descr="/sessions/epic-sleepy-mendel/mnt/outputs/figs/sed_per_y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5669280" cy="2141728"/>
          </a:xfrm>
          <a:prstGeom prst="rect">
            <a:avLst/>
          </a:prstGeom>
        </p:spPr>
      </p:pic>
      <p:pic>
        <p:nvPicPr>
          <p:cNvPr id="5" name="Image 1" descr="/sessions/epic-sleepy-mendel/mnt/outputs/figs/rating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3840480" cy="2944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029200"/>
            <a:ext cx="111831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Sediment data already collected (77 CM stations) and rating-curve-ready (median R² ≈ 0.5).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absolute loads are uncertain; the defensible outputs are RELATIVE comparisons (2011 vs 2015-16) — bias cancels in a ratio.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11831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calibrated MGB-SED for the Magdalena; a process-based, spatial reading of the ENSO sediment signal.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Hydrology foundation in place: model built &amp; tested, discharge data collected &amp; validated, ENSO contrast confirmed.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finish ERA5 + domain box → preprocessing → discharge calibration → sediment.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51206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Fagundes et al. (2020–2026) · Collischonn et al. (2007, MGB-IPH) · Restrepo &amp; Kjerfve (2000) · Bates et al. (2010) · Briceño et al. (ERA5 bias)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2026-07-29T09:31:04Z</dcterms:created>
  <dcterms:modified xsi:type="dcterms:W3CDTF">2026-07-29T09:31:04Z</dcterms:modified>
</cp:coreProperties>
</file>